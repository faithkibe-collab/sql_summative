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2286000"/>
            <a:ext cx="10698480" cy="109728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Exploring the IMDB Movie Dataset</a:t>
            </a:r>
            <a:endParaRPr lang="en-US" sz="4000" dirty="0"/>
          </a:p>
        </p:txBody>
      </p:sp>
      <p:sp>
        <p:nvSpPr>
          <p:cNvPr id="3" name="Text 1"/>
          <p:cNvSpPr/>
          <p:nvPr/>
        </p:nvSpPr>
        <p:spPr>
          <a:xfrm>
            <a:off x="731520" y="3383280"/>
            <a:ext cx="10698480" cy="548640"/>
          </a:xfrm>
          <a:prstGeom prst="rect">
            <a:avLst/>
          </a:prstGeom>
          <a:noFill/>
          <a:ln/>
        </p:spPr>
        <p:txBody>
          <a:bodyPr wrap="square" rtlCol="0" anchor="ctr"/>
          <a:lstStyle/>
          <a:p>
            <a:pPr algn="l" indent="0" marL="0">
              <a:buNone/>
            </a:pPr>
            <a:r>
              <a:rPr lang="en-US" sz="1800" i="1" dirty="0">
                <a:solidFill>
                  <a:srgbClr val="CADCFC"/>
                </a:solidFill>
                <a:latin typeface="Calibri" pitchFamily="34" charset="0"/>
                <a:ea typeface="Calibri" pitchFamily="34" charset="-122"/>
                <a:cs typeface="Calibri" pitchFamily="34" charset="-120"/>
              </a:rPr>
              <a:t>A Preliminary Analysis of Genre, Popularity, and Rating (2010-2019)</a:t>
            </a:r>
            <a:endParaRPr lang="en-US" sz="1800" dirty="0"/>
          </a:p>
        </p:txBody>
      </p:sp>
      <p:sp>
        <p:nvSpPr>
          <p:cNvPr id="4" name="Text 2"/>
          <p:cNvSpPr/>
          <p:nvPr/>
        </p:nvSpPr>
        <p:spPr>
          <a:xfrm>
            <a:off x="731520" y="6035040"/>
            <a:ext cx="10698480" cy="365760"/>
          </a:xfrm>
          <a:prstGeom prst="rect">
            <a:avLst/>
          </a:prstGeom>
          <a:noFill/>
          <a:ln/>
        </p:spPr>
        <p:txBody>
          <a:bodyPr wrap="square"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Part 2: Exploratory Analysis with SQL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Initial Exploration Findings</a:t>
            </a:r>
            <a:endParaRPr lang="en-US" sz="3200" dirty="0"/>
          </a:p>
        </p:txBody>
      </p:sp>
      <p:sp>
        <p:nvSpPr>
          <p:cNvPr id="3" name="Shape 1"/>
          <p:cNvSpPr/>
          <p:nvPr/>
        </p:nvSpPr>
        <p:spPr>
          <a:xfrm>
            <a:off x="548640" y="1417320"/>
            <a:ext cx="457200" cy="457200"/>
          </a:xfrm>
          <a:prstGeom prst="ellipse">
            <a:avLst/>
          </a:prstGeom>
          <a:solidFill>
            <a:srgbClr val="F96167"/>
          </a:solidFill>
          <a:ln/>
        </p:spPr>
      </p:sp>
      <p:sp>
        <p:nvSpPr>
          <p:cNvPr id="4" name="Text 2"/>
          <p:cNvSpPr/>
          <p:nvPr/>
        </p:nvSpPr>
        <p:spPr>
          <a:xfrm>
            <a:off x="548640" y="141732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280160" y="1371600"/>
            <a:ext cx="10058400" cy="36576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146,000+ movies in scope</a:t>
            </a:r>
            <a:endParaRPr lang="en-US" sz="1700" dirty="0"/>
          </a:p>
        </p:txBody>
      </p:sp>
      <p:sp>
        <p:nvSpPr>
          <p:cNvPr id="6" name="Text 4"/>
          <p:cNvSpPr/>
          <p:nvPr/>
        </p:nvSpPr>
        <p:spPr>
          <a:xfrm>
            <a:off x="1280160" y="1755648"/>
            <a:ext cx="10058400" cy="548640"/>
          </a:xfrm>
          <a:prstGeom prst="rect">
            <a:avLst/>
          </a:prstGeom>
          <a:noFill/>
          <a:ln/>
        </p:spPr>
        <p:txBody>
          <a:bodyPr wrap="square" rtlCol="0" anchor="ctr"/>
          <a:lstStyle/>
          <a:p>
            <a:pPr indent="0" marL="0">
              <a:buNone/>
            </a:pPr>
            <a:r>
              <a:rPr lang="en-US" sz="1300" dirty="0">
                <a:solidFill>
                  <a:srgbClr val="36454F"/>
                </a:solidFill>
                <a:latin typeface="Calibri" pitchFamily="34" charset="0"/>
                <a:ea typeface="Calibri" pitchFamily="34" charset="-122"/>
                <a:cs typeface="Calibri" pitchFamily="34" charset="-120"/>
              </a:rPr>
              <a:t>Filtered to films released between 2010 and 2019, joined against ratings data (73,000+ titles with a rating).</a:t>
            </a:r>
            <a:endParaRPr lang="en-US" sz="1300" dirty="0"/>
          </a:p>
        </p:txBody>
      </p:sp>
      <p:sp>
        <p:nvSpPr>
          <p:cNvPr id="7" name="Shape 5"/>
          <p:cNvSpPr/>
          <p:nvPr/>
        </p:nvSpPr>
        <p:spPr>
          <a:xfrm>
            <a:off x="548640" y="2606040"/>
            <a:ext cx="457200" cy="457200"/>
          </a:xfrm>
          <a:prstGeom prst="ellipse">
            <a:avLst/>
          </a:prstGeom>
          <a:solidFill>
            <a:srgbClr val="F96167"/>
          </a:solidFill>
          <a:ln/>
        </p:spPr>
      </p:sp>
      <p:sp>
        <p:nvSpPr>
          <p:cNvPr id="8" name="Text 6"/>
          <p:cNvSpPr/>
          <p:nvPr/>
        </p:nvSpPr>
        <p:spPr>
          <a:xfrm>
            <a:off x="548640" y="26060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280160" y="2560320"/>
            <a:ext cx="10058400" cy="36576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Documentary is the highest-rated genre</a:t>
            </a:r>
            <a:endParaRPr lang="en-US" sz="1700" dirty="0"/>
          </a:p>
        </p:txBody>
      </p:sp>
      <p:sp>
        <p:nvSpPr>
          <p:cNvPr id="10" name="Text 8"/>
          <p:cNvSpPr/>
          <p:nvPr/>
        </p:nvSpPr>
        <p:spPr>
          <a:xfrm>
            <a:off x="1280160" y="2944368"/>
            <a:ext cx="10058400" cy="548640"/>
          </a:xfrm>
          <a:prstGeom prst="rect">
            <a:avLst/>
          </a:prstGeom>
          <a:noFill/>
          <a:ln/>
        </p:spPr>
        <p:txBody>
          <a:bodyPr wrap="square" rtlCol="0" anchor="ctr"/>
          <a:lstStyle/>
          <a:p>
            <a:pPr indent="0" marL="0">
              <a:buNone/>
            </a:pPr>
            <a:r>
              <a:rPr lang="en-US" sz="1300" dirty="0">
                <a:solidFill>
                  <a:srgbClr val="36454F"/>
                </a:solidFill>
                <a:latin typeface="Calibri" pitchFamily="34" charset="0"/>
                <a:ea typeface="Calibri" pitchFamily="34" charset="-122"/>
                <a:cs typeface="Calibri" pitchFamily="34" charset="-120"/>
              </a:rPr>
              <a:t>Average rating of ~7.3, but the smallest average audience of any major genre (~267 votes per title).</a:t>
            </a:r>
            <a:endParaRPr lang="en-US" sz="1300" dirty="0"/>
          </a:p>
        </p:txBody>
      </p:sp>
      <p:sp>
        <p:nvSpPr>
          <p:cNvPr id="11" name="Shape 9"/>
          <p:cNvSpPr/>
          <p:nvPr/>
        </p:nvSpPr>
        <p:spPr>
          <a:xfrm>
            <a:off x="548640" y="3794760"/>
            <a:ext cx="457200" cy="457200"/>
          </a:xfrm>
          <a:prstGeom prst="ellipse">
            <a:avLst/>
          </a:prstGeom>
          <a:solidFill>
            <a:srgbClr val="F96167"/>
          </a:solidFill>
          <a:ln/>
        </p:spPr>
      </p:sp>
      <p:sp>
        <p:nvSpPr>
          <p:cNvPr id="12" name="Text 10"/>
          <p:cNvSpPr/>
          <p:nvPr/>
        </p:nvSpPr>
        <p:spPr>
          <a:xfrm>
            <a:off x="548640" y="379476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p:nvPr/>
        </p:nvSpPr>
        <p:spPr>
          <a:xfrm>
            <a:off x="1280160" y="3749040"/>
            <a:ext cx="10058400" cy="36576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Action &amp; Sci-Fi draw the biggest audiences</a:t>
            </a:r>
            <a:endParaRPr lang="en-US" sz="1700" dirty="0"/>
          </a:p>
        </p:txBody>
      </p:sp>
      <p:sp>
        <p:nvSpPr>
          <p:cNvPr id="14" name="Text 12"/>
          <p:cNvSpPr/>
          <p:nvPr/>
        </p:nvSpPr>
        <p:spPr>
          <a:xfrm>
            <a:off x="1280160" y="4133088"/>
            <a:ext cx="10058400" cy="548640"/>
          </a:xfrm>
          <a:prstGeom prst="rect">
            <a:avLst/>
          </a:prstGeom>
          <a:noFill/>
          <a:ln/>
        </p:spPr>
        <p:txBody>
          <a:bodyPr wrap="square" rtlCol="0" anchor="ctr"/>
          <a:lstStyle/>
          <a:p>
            <a:pPr indent="0" marL="0">
              <a:buNone/>
            </a:pPr>
            <a:r>
              <a:rPr lang="en-US" sz="1300" dirty="0">
                <a:solidFill>
                  <a:srgbClr val="36454F"/>
                </a:solidFill>
                <a:latin typeface="Calibri" pitchFamily="34" charset="0"/>
                <a:ea typeface="Calibri" pitchFamily="34" charset="-122"/>
                <a:cs typeface="Calibri" pitchFamily="34" charset="-120"/>
              </a:rPr>
              <a:t>Averaging 14,000+ and 19,000+ votes per title respectively, but with only middling average ratings (~5.5-5.8).</a:t>
            </a:r>
            <a:endParaRPr lang="en-US" sz="1300" dirty="0"/>
          </a:p>
        </p:txBody>
      </p:sp>
      <p:sp>
        <p:nvSpPr>
          <p:cNvPr id="15" name="Shape 13"/>
          <p:cNvSpPr/>
          <p:nvPr/>
        </p:nvSpPr>
        <p:spPr>
          <a:xfrm>
            <a:off x="548640" y="4983480"/>
            <a:ext cx="457200" cy="457200"/>
          </a:xfrm>
          <a:prstGeom prst="ellipse">
            <a:avLst/>
          </a:prstGeom>
          <a:solidFill>
            <a:srgbClr val="F96167"/>
          </a:solidFill>
          <a:ln/>
        </p:spPr>
      </p:sp>
      <p:sp>
        <p:nvSpPr>
          <p:cNvPr id="16" name="Text 14"/>
          <p:cNvSpPr/>
          <p:nvPr/>
        </p:nvSpPr>
        <p:spPr>
          <a:xfrm>
            <a:off x="548640" y="498348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p:nvPr/>
        </p:nvSpPr>
        <p:spPr>
          <a:xfrm>
            <a:off x="1280160" y="4937760"/>
            <a:ext cx="10058400" cy="36576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Drama and Comedy dominate by volume</a:t>
            </a:r>
            <a:endParaRPr lang="en-US" sz="1700" dirty="0"/>
          </a:p>
        </p:txBody>
      </p:sp>
      <p:sp>
        <p:nvSpPr>
          <p:cNvPr id="18" name="Text 16"/>
          <p:cNvSpPr/>
          <p:nvPr/>
        </p:nvSpPr>
        <p:spPr>
          <a:xfrm>
            <a:off x="1280160" y="5321808"/>
            <a:ext cx="10058400" cy="548640"/>
          </a:xfrm>
          <a:prstGeom prst="rect">
            <a:avLst/>
          </a:prstGeom>
          <a:noFill/>
          <a:ln/>
        </p:spPr>
        <p:txBody>
          <a:bodyPr wrap="square" rtlCol="0" anchor="ctr"/>
          <a:lstStyle/>
          <a:p>
            <a:pPr indent="0" marL="0">
              <a:buNone/>
            </a:pPr>
            <a:r>
              <a:rPr lang="en-US" sz="1300" dirty="0">
                <a:solidFill>
                  <a:srgbClr val="36454F"/>
                </a:solidFill>
                <a:latin typeface="Calibri" pitchFamily="34" charset="0"/>
                <a:ea typeface="Calibri" pitchFamily="34" charset="-122"/>
                <a:cs typeface="Calibri" pitchFamily="34" charset="-120"/>
              </a:rPr>
              <a:t>Together they account for roughly 48,000 genre-tagged titles, far more than any other category.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Business Question: Does Popularity Trade Off Against Rating?</a:t>
            </a:r>
            <a:endParaRPr lang="en-US" sz="2600" dirty="0"/>
          </a:p>
        </p:txBody>
      </p:sp>
      <p:sp>
        <p:nvSpPr>
          <p:cNvPr id="3" name="Text 1"/>
          <p:cNvSpPr/>
          <p:nvPr/>
        </p:nvSpPr>
        <p:spPr>
          <a:xfrm>
            <a:off x="548640" y="1097280"/>
            <a:ext cx="11064240" cy="640080"/>
          </a:xfrm>
          <a:prstGeom prst="rect">
            <a:avLst/>
          </a:prstGeom>
          <a:noFill/>
          <a:ln/>
        </p:spPr>
        <p:txBody>
          <a:bodyPr wrap="square" rtlCol="0" anchor="ctr"/>
          <a:lstStyle/>
          <a:p>
            <a:pPr indent="0" marL="0">
              <a:buNone/>
            </a:pPr>
            <a:r>
              <a:rPr lang="en-US" sz="1400" i="1" dirty="0">
                <a:solidFill>
                  <a:srgbClr val="36454F"/>
                </a:solidFill>
                <a:latin typeface="Calibri" pitchFamily="34" charset="0"/>
                <a:ea typeface="Calibri" pitchFamily="34" charset="-122"/>
                <a:cs typeface="Calibri" pitchFamily="34" charset="-120"/>
              </a:rPr>
              <a:t>For genres with the largest audiences, does critical reception (average rating) tend to be lower? If so, should marketing and content investment decisions differ for “broad reach” vs. “high regard” genres?</a:t>
            </a:r>
            <a:endParaRPr lang="en-US" sz="1400" dirty="0"/>
          </a:p>
        </p:txBody>
      </p:sp>
      <p:pic>
        <p:nvPicPr>
          <p:cNvPr id="4" name="Image 0" descr="genre_popularity_vs_rating.png">    </p:cNvPr>
          <p:cNvPicPr>
            <a:picLocks noChangeAspect="1"/>
          </p:cNvPicPr>
          <p:nvPr/>
        </p:nvPicPr>
        <p:blipFill>
          <a:blip r:embed="rId1"/>
          <a:stretch>
            <a:fillRect/>
          </a:stretch>
        </p:blipFill>
        <p:spPr>
          <a:xfrm>
            <a:off x="822960" y="1828800"/>
            <a:ext cx="7863840" cy="4663440"/>
          </a:xfrm>
          <a:prstGeom prst="rect">
            <a:avLst/>
          </a:prstGeom>
        </p:spPr>
      </p:pic>
      <p:sp>
        <p:nvSpPr>
          <p:cNvPr id="5" name="Text 2"/>
          <p:cNvSpPr/>
          <p:nvPr/>
        </p:nvSpPr>
        <p:spPr>
          <a:xfrm>
            <a:off x="8961120" y="2103120"/>
            <a:ext cx="2743200" cy="4023360"/>
          </a:xfrm>
          <a:prstGeom prst="rect">
            <a:avLst/>
          </a:prstGeom>
          <a:noFill/>
          <a:ln/>
        </p:spPr>
        <p:txBody>
          <a:bodyPr wrap="square" rtlCol="0" anchor="ctr"/>
          <a:lstStyle/>
          <a:p>
            <a:pPr indent="0" marL="0">
              <a:buNone/>
            </a:pPr>
            <a:r>
              <a:rPr lang="en-US" sz="1400" b="1" dirty="0">
                <a:solidFill>
                  <a:srgbClr val="1E2761"/>
                </a:solidFill>
              </a:rPr>
              <a:t>What the chart shows
</a:t>
            </a:r>
            <a:endParaRPr lang="en-US" sz="1400" dirty="0"/>
          </a:p>
          <a:p>
            <a:pPr marL="342900" indent="-342900">
              <a:spcAft>
                <a:spcPts val="800"/>
              </a:spcAft>
              <a:buSzPct val="100000"/>
              <a:buChar char="•"/>
            </a:pPr>
            <a:r>
              <a:rPr lang="en-US" sz="1250" dirty="0">
                <a:solidFill>
                  <a:srgbClr val="36454F"/>
                </a:solidFill>
              </a:rPr>
              <a:t>Documentary sits high on rating, low on votes.
</a:t>
            </a:r>
            <a:endParaRPr lang="en-US" sz="1400" dirty="0"/>
          </a:p>
          <a:p>
            <a:pPr marL="342900" indent="-342900">
              <a:spcAft>
                <a:spcPts val="800"/>
              </a:spcAft>
              <a:buSzPct val="100000"/>
              <a:buChar char="•"/>
            </a:pPr>
            <a:r>
              <a:rPr lang="en-US" sz="1250" dirty="0">
                <a:solidFill>
                  <a:srgbClr val="36454F"/>
                </a:solidFill>
              </a:rPr>
              <a:t>Action &amp; Sci-Fi sit high on votes, lower on rating.
</a:t>
            </a:r>
            <a:endParaRPr lang="en-US" sz="1400" dirty="0"/>
          </a:p>
          <a:p>
            <a:pPr marL="342900" indent="-342900">
              <a:spcAft>
                <a:spcPts val="800"/>
              </a:spcAft>
              <a:buSzPct val="100000"/>
              <a:buChar char="•"/>
            </a:pPr>
            <a:r>
              <a:rPr lang="en-US" sz="1250" dirty="0">
                <a:solidFill>
                  <a:srgbClr val="36454F"/>
                </a:solidFill>
              </a:rPr>
              <a:t>Drama/Comedy sit in the middle on both axes.
</a:t>
            </a:r>
            <a:endParaRPr lang="en-US" sz="1400" dirty="0"/>
          </a:p>
          <a:p>
            <a:pPr marL="342900" indent="-342900">
              <a:buSzPct val="100000"/>
              <a:buChar char="•"/>
            </a:pPr>
            <a:r>
              <a:rPr lang="en-US" sz="1250" dirty="0">
                <a:solidFill>
                  <a:srgbClr val="36454F"/>
                </a:solidFill>
              </a:rPr>
              <a:t>Bubble size = number of movies in that genre.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Data Cleaning Tasks Identified</a:t>
            </a:r>
            <a:endParaRPr lang="en-US" sz="3200" dirty="0"/>
          </a:p>
        </p:txBody>
      </p:sp>
      <p:sp>
        <p:nvSpPr>
          <p:cNvPr id="3" name="Shape 1"/>
          <p:cNvSpPr/>
          <p:nvPr/>
        </p:nvSpPr>
        <p:spPr>
          <a:xfrm>
            <a:off x="548640" y="1463040"/>
            <a:ext cx="5394960" cy="1417320"/>
          </a:xfrm>
          <a:prstGeom prst="roundRect">
            <a:avLst>
              <a:gd name="adj" fmla="val 5161"/>
            </a:avLst>
          </a:prstGeom>
          <a:solidFill>
            <a:srgbClr val="263487"/>
          </a:solidFill>
          <a:ln/>
        </p:spPr>
      </p:sp>
      <p:sp>
        <p:nvSpPr>
          <p:cNvPr id="4" name="Text 2"/>
          <p:cNvSpPr/>
          <p:nvPr/>
        </p:nvSpPr>
        <p:spPr>
          <a:xfrm>
            <a:off x="777240" y="1600200"/>
            <a:ext cx="49377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Out-of-range years</a:t>
            </a:r>
            <a:endParaRPr lang="en-US" sz="1500" dirty="0"/>
          </a:p>
        </p:txBody>
      </p:sp>
      <p:sp>
        <p:nvSpPr>
          <p:cNvPr id="5" name="Text 3"/>
          <p:cNvSpPr/>
          <p:nvPr/>
        </p:nvSpPr>
        <p:spPr>
          <a:xfrm>
            <a:off x="777240" y="1965960"/>
            <a:ext cx="4937760" cy="8229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start_year includes values far outside 2010-2019 (one entry as late as 2115) — must be filtered before analysis.</a:t>
            </a:r>
            <a:endParaRPr lang="en-US" sz="1200" dirty="0"/>
          </a:p>
        </p:txBody>
      </p:sp>
      <p:sp>
        <p:nvSpPr>
          <p:cNvPr id="6" name="Shape 4"/>
          <p:cNvSpPr/>
          <p:nvPr/>
        </p:nvSpPr>
        <p:spPr>
          <a:xfrm>
            <a:off x="548640" y="3063240"/>
            <a:ext cx="5394960" cy="1417320"/>
          </a:xfrm>
          <a:prstGeom prst="roundRect">
            <a:avLst>
              <a:gd name="adj" fmla="val 5161"/>
            </a:avLst>
          </a:prstGeom>
          <a:solidFill>
            <a:srgbClr val="263487"/>
          </a:solidFill>
          <a:ln/>
        </p:spPr>
      </p:sp>
      <p:sp>
        <p:nvSpPr>
          <p:cNvPr id="7" name="Text 5"/>
          <p:cNvSpPr/>
          <p:nvPr/>
        </p:nvSpPr>
        <p:spPr>
          <a:xfrm>
            <a:off x="777240" y="3200400"/>
            <a:ext cx="49377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Implausible runtimes</a:t>
            </a:r>
            <a:endParaRPr lang="en-US" sz="1500" dirty="0"/>
          </a:p>
        </p:txBody>
      </p:sp>
      <p:sp>
        <p:nvSpPr>
          <p:cNvPr id="8" name="Text 6"/>
          <p:cNvSpPr/>
          <p:nvPr/>
        </p:nvSpPr>
        <p:spPr>
          <a:xfrm>
            <a:off x="777240" y="3566160"/>
            <a:ext cx="4937760" cy="8229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runtime_minutes contains outliers in the tens of thousands of minutes; not realistic for a feature film and likely a data-entry error.</a:t>
            </a:r>
            <a:endParaRPr lang="en-US" sz="1200" dirty="0"/>
          </a:p>
        </p:txBody>
      </p:sp>
      <p:sp>
        <p:nvSpPr>
          <p:cNvPr id="9" name="Shape 7"/>
          <p:cNvSpPr/>
          <p:nvPr/>
        </p:nvSpPr>
        <p:spPr>
          <a:xfrm>
            <a:off x="548640" y="4663440"/>
            <a:ext cx="5394960" cy="1417320"/>
          </a:xfrm>
          <a:prstGeom prst="roundRect">
            <a:avLst>
              <a:gd name="adj" fmla="val 5161"/>
            </a:avLst>
          </a:prstGeom>
          <a:solidFill>
            <a:srgbClr val="263487"/>
          </a:solidFill>
          <a:ln/>
        </p:spPr>
      </p:sp>
      <p:sp>
        <p:nvSpPr>
          <p:cNvPr id="10" name="Text 8"/>
          <p:cNvSpPr/>
          <p:nvPr/>
        </p:nvSpPr>
        <p:spPr>
          <a:xfrm>
            <a:off x="777240" y="4800600"/>
            <a:ext cx="49377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Missing runtimes</a:t>
            </a:r>
            <a:endParaRPr lang="en-US" sz="1500" dirty="0"/>
          </a:p>
        </p:txBody>
      </p:sp>
      <p:sp>
        <p:nvSpPr>
          <p:cNvPr id="11" name="Text 9"/>
          <p:cNvSpPr/>
          <p:nvPr/>
        </p:nvSpPr>
        <p:spPr>
          <a:xfrm>
            <a:off x="777240" y="5166360"/>
            <a:ext cx="4937760" cy="8229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 large share of runtime_minutes values are null; excluded rather than filled in for runtime-based analysis.</a:t>
            </a:r>
            <a:endParaRPr lang="en-US" sz="1200" dirty="0"/>
          </a:p>
        </p:txBody>
      </p:sp>
      <p:sp>
        <p:nvSpPr>
          <p:cNvPr id="12" name="Shape 10"/>
          <p:cNvSpPr/>
          <p:nvPr/>
        </p:nvSpPr>
        <p:spPr>
          <a:xfrm>
            <a:off x="6172200" y="1463040"/>
            <a:ext cx="5394960" cy="1417320"/>
          </a:xfrm>
          <a:prstGeom prst="roundRect">
            <a:avLst>
              <a:gd name="adj" fmla="val 5161"/>
            </a:avLst>
          </a:prstGeom>
          <a:solidFill>
            <a:srgbClr val="263487"/>
          </a:solidFill>
          <a:ln/>
        </p:spPr>
      </p:sp>
      <p:sp>
        <p:nvSpPr>
          <p:cNvPr id="13" name="Text 11"/>
          <p:cNvSpPr/>
          <p:nvPr/>
        </p:nvSpPr>
        <p:spPr>
          <a:xfrm>
            <a:off x="6400800" y="1600200"/>
            <a:ext cx="49377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Multi-value genre field</a:t>
            </a:r>
            <a:endParaRPr lang="en-US" sz="1500" dirty="0"/>
          </a:p>
        </p:txBody>
      </p:sp>
      <p:sp>
        <p:nvSpPr>
          <p:cNvPr id="14" name="Text 12"/>
          <p:cNvSpPr/>
          <p:nvPr/>
        </p:nvSpPr>
        <p:spPr>
          <a:xfrm>
            <a:off x="6400800" y="1965960"/>
            <a:ext cx="4937760" cy="8229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genres packs several categories into one comma-separated string, requiring a split/explode step before any genre-level grouping.</a:t>
            </a:r>
            <a:endParaRPr lang="en-US" sz="1200" dirty="0"/>
          </a:p>
        </p:txBody>
      </p:sp>
      <p:sp>
        <p:nvSpPr>
          <p:cNvPr id="15" name="Shape 13"/>
          <p:cNvSpPr/>
          <p:nvPr/>
        </p:nvSpPr>
        <p:spPr>
          <a:xfrm>
            <a:off x="6172200" y="3063240"/>
            <a:ext cx="5394960" cy="1417320"/>
          </a:xfrm>
          <a:prstGeom prst="roundRect">
            <a:avLst>
              <a:gd name="adj" fmla="val 5161"/>
            </a:avLst>
          </a:prstGeom>
          <a:solidFill>
            <a:srgbClr val="263487"/>
          </a:solidFill>
          <a:ln/>
        </p:spPr>
      </p:sp>
      <p:sp>
        <p:nvSpPr>
          <p:cNvPr id="16" name="Text 14"/>
          <p:cNvSpPr/>
          <p:nvPr/>
        </p:nvSpPr>
        <p:spPr>
          <a:xfrm>
            <a:off x="6400800" y="3200400"/>
            <a:ext cx="49377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Missing genres</a:t>
            </a:r>
            <a:endParaRPr lang="en-US" sz="1500" dirty="0"/>
          </a:p>
        </p:txBody>
      </p:sp>
      <p:sp>
        <p:nvSpPr>
          <p:cNvPr id="17" name="Text 15"/>
          <p:cNvSpPr/>
          <p:nvPr/>
        </p:nvSpPr>
        <p:spPr>
          <a:xfrm>
            <a:off x="6400800" y="3566160"/>
            <a:ext cx="4937760" cy="8229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 subset of titles have a null genres field; excluded from genre-based exploration rather than imputed.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2026-07-15T21:34:41Z</dcterms:created>
  <dcterms:modified xsi:type="dcterms:W3CDTF">2026-07-15T21:34:41Z</dcterms:modified>
</cp:coreProperties>
</file>